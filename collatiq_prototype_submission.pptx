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2926080" cy="2926080"/>
          </a:xfrm>
          <a:prstGeom prst="ellipse">
            <a:avLst/>
          </a:prstGeom>
          <a:solidFill>
            <a:srgbClr val="091529"/>
          </a:solidFill>
          <a:ln w="12700">
            <a:solidFill>
              <a:srgbClr val="0915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82880"/>
            <a:ext cx="2011680" cy="2011680"/>
          </a:xfrm>
          <a:prstGeom prst="ellipse">
            <a:avLst/>
          </a:prstGeom>
          <a:solidFill>
            <a:srgbClr val="091529"/>
          </a:solidFill>
          <a:ln w="381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384048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84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PROTOTYPE SUBMISSION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CollatIQ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Collateral Valuation &amp;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D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Resale Liquidity Engine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Poonawalla Fincorp · Problem Statement 4A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429000"/>
            <a:ext cx="2103120" cy="45720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10-Slide Deck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3429000"/>
            <a:ext cx="2103120" cy="457200"/>
          </a:xfrm>
          <a:prstGeom prst="rect">
            <a:avLst/>
          </a:prstGeom>
          <a:solidFill>
            <a:srgbClr val="3D5A8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Functional Prototype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3429000"/>
            <a:ext cx="2103120" cy="457200"/>
          </a:xfrm>
          <a:prstGeom prst="rect">
            <a:avLst/>
          </a:prstGeom>
          <a:solidFill>
            <a:srgbClr val="1B8A5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6636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 Ready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0F1E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DAC"/>
                </a:solidFill>
              </a:rPr>
              <a:t>Price · Risk · Liquidity — together, not in silos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022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lending in India is held back by three interlinked failures in collateral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₹18L Cr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627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D0"/>
                </a:solidFill>
              </a:rPr>
              <a:t>LAP market size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BD0"/>
                </a:solidFill>
              </a:rPr>
              <a:t>(India, 2024)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91840" y="11704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91840" y="1627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D0"/>
                </a:solidFill>
              </a:rPr>
              <a:t>Valuation variance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BD0"/>
                </a:solidFill>
              </a:rPr>
              <a:t>in tier-2 cities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72200" y="11704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45+ days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172200" y="1627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D0"/>
                </a:solidFill>
              </a:rPr>
              <a:t>Avg. collateral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BD0"/>
                </a:solidFill>
              </a:rPr>
              <a:t>assessment time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21408"/>
            <a:ext cx="2743200" cy="2697480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21408"/>
            <a:ext cx="2743200" cy="64008"/>
          </a:xfrm>
          <a:prstGeom prst="rect">
            <a:avLst/>
          </a:prstGeom>
          <a:solidFill>
            <a:srgbClr val="D64045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28600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4048" y="2889504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Subjective Valuations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84048" y="333756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inspections and broker estimates have no standardisation. Circle rates lag market by 12–18 months.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18688" y="2121408"/>
            <a:ext cx="2743200" cy="2697480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18688" y="2121408"/>
            <a:ext cx="2743200" cy="64008"/>
          </a:xfrm>
          <a:prstGeom prst="rect">
            <a:avLst/>
          </a:prstGeom>
          <a:solidFill>
            <a:srgbClr val="E07B2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28600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28416" y="2889504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Risk Ignored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28416" y="333756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price LTV on asset value alone — resale liquidity and time-to-liquidate are not quantified.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163056" y="2121408"/>
            <a:ext cx="2743200" cy="2697480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63056" y="2121408"/>
            <a:ext cx="2743200" cy="64008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228600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72784" y="2889504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Fraud Safeguards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272784" y="3337560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Overstated sizes, misclassified asset types, and incorrect location tagging inflate collateral values undetected.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D7377"/>
                </a:solidFill>
              </a:rPr>
              <a:t>CollatIQ solves all three — in a single, explainable API.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520440"/>
          </a:xfrm>
          <a:prstGeom prst="rect">
            <a:avLst/>
          </a:prstGeom>
          <a:solidFill>
            <a:srgbClr val="102244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CollatIQ 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256032" cy="25603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737360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data-led valuation &amp; liquidity engine for property-backed lending.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414016"/>
            <a:ext cx="256032" cy="25603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395728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address, property type, size, age (+ optional legal/rental/images).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072384"/>
            <a:ext cx="256032" cy="25603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054096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Market value range, distress value, resale index, time-to-liquidate, confidence score, risk flags.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730752"/>
            <a:ext cx="256032" cy="25603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712464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REST API — integrates into any NBFC underwriting workflow in days.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10972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Outputs in Every Response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600200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600200"/>
            <a:ext cx="73152" cy="89611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6550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Market Value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07568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075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₹ Range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1600200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1600200"/>
            <a:ext cx="73152" cy="896112"/>
          </a:xfrm>
          <a:prstGeom prst="rect">
            <a:avLst/>
          </a:prstGeom>
          <a:solidFill>
            <a:srgbClr val="E07B20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6550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Distress Sale Value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207568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E07B20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2075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₹ Range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651760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651760"/>
            <a:ext cx="73152" cy="89611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70662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Resale Potential Index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12724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0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 – 100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12280" y="2651760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12280" y="2651760"/>
            <a:ext cx="73152" cy="89611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270662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Liquidate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9440" y="312724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3D5A80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Days Range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703320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703320"/>
            <a:ext cx="73152" cy="896112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75818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Score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417880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1B8A5A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4178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0.0 – 1.0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12280" y="3703320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12280" y="3703320"/>
            <a:ext cx="73152" cy="896112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0" y="375818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Flags &amp; Key Drivers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9440" y="417880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D64045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0" y="4178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Explainability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7377"/>
                </a:solidFill>
              </a:rPr>
              <a:t>Not a price regression — a full collateral intelligence layer with explainability at its core.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22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676656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530352" cy="676656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78992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133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264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geocoding · Size sanity checks · Property type plausibility · Fraud flag triggers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256032" cy="9144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847088"/>
            <a:ext cx="85953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47088"/>
            <a:ext cx="530352" cy="6766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847088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901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1945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rate lookup · Infrastructure proximity score · Depreciation calc · Rental yield proxy · Market activity score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523744"/>
            <a:ext cx="256032" cy="91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615184"/>
            <a:ext cx="8595360" cy="676656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15184"/>
            <a:ext cx="530352" cy="676656"/>
          </a:xfrm>
          <a:prstGeom prst="rect">
            <a:avLst/>
          </a:prstGeom>
          <a:solidFill>
            <a:srgbClr val="102244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615184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670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9626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regression: base value + location premium + attribute adjustments + depreciation curve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291840"/>
            <a:ext cx="256032" cy="91440"/>
          </a:xfrm>
          <a:prstGeom prst="rect">
            <a:avLst/>
          </a:prstGeom>
          <a:solidFill>
            <a:srgbClr val="10224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383280"/>
            <a:ext cx="85953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83280"/>
            <a:ext cx="530352" cy="676656"/>
          </a:xfrm>
          <a:prstGeom prst="rect">
            <a:avLst/>
          </a:prstGeom>
          <a:solidFill>
            <a:srgbClr val="E07B2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383280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438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Liquidity Scoring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7307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Potential Index (0–100) · Distress discount matrix · Time-to-liquidate model (range output)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4059936"/>
            <a:ext cx="256032" cy="91440"/>
          </a:xfrm>
          <a:prstGeom prst="rect">
            <a:avLst/>
          </a:prstGeom>
          <a:solidFill>
            <a:srgbClr val="E07B20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151376"/>
            <a:ext cx="8595360" cy="676656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151376"/>
            <a:ext cx="530352" cy="676656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151376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&amp; Explainability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44988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· Confidence score · Key drivers · Risk flags · Human-readable rationale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109728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10972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DAC"/>
                </a:solidFill>
              </a:rPr>
              <a:t>Stack: Python · FastAPI · SQLite · Render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DEEP DIVE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4160520" cy="1828800"/>
          </a:xfrm>
          <a:prstGeom prst="rect">
            <a:avLst/>
          </a:prstGeom>
          <a:solidFill>
            <a:srgbClr val="102244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" y="115214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📍 Location Intelligence (Primary Driver)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3192" y="15544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Circle rate — statutory floor from state govt tables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93192" y="18745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proximity index — metro, highways, hospitals, schools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3192" y="2194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Neighbourhood quality — planned/unplanned, residential/mixed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25146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activity proxy — listing density, broker density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078992"/>
            <a:ext cx="4160520" cy="1828800"/>
          </a:xfrm>
          <a:prstGeom prst="rect">
            <a:avLst/>
          </a:prstGeom>
          <a:solidFill>
            <a:srgbClr val="3D5A80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115214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Property Characteristics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28032" y="15544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&amp; sub-type: apartment / villa / plot / shop / warehouse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28032" y="18745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Carpet vs built-up area; land parcel size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28032" y="2194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Vintage: new (&lt;5yr), mid (5–15yr), old (&gt;15yr)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28032" y="25146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Floor level, lift access, ground-floor premium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072384"/>
            <a:ext cx="4160520" cy="182880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" y="314553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Legal &amp; Ownership Signals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3192" y="35478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Freehold vs leasehold — affects resale ceiling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3192" y="38679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 clarity proxy — dispute indicators lower RPI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3192" y="418795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Encumbrance flag — conservative LTV trigger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3192" y="45079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Ownership structure — individual vs corporate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3072384"/>
            <a:ext cx="4160520" cy="1828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314553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Market &amp; Income Dynamics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28032" y="35478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Occupancy: self-occupied / rented / vacant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28032" y="38679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Rental yield proxy — investor demand signal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28032" y="418795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Asset fungibility — standard 2BHK vs niche config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45079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Supply–demand balance — listing vs absorption ratio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7377"/>
                </a:solidFill>
              </a:rPr>
              <a:t>All features are derived from inputs requiring no proprietary datasets — 100% deployable on day 1.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22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&amp; LIQUIDITY MODEL LOGIC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5486400" cy="1170432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78992"/>
            <a:ext cx="73152" cy="11704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13385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Value Estimation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" y="1444752"/>
            <a:ext cx="512064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4447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R_circle × (1 + L_premium) × S × D_factor × I_factor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7647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R_circle = circle rate/sqft  |  L_premium = location score  |  S = area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D_factor = depreciation  |  I_factor = infrastructure index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2377440"/>
            <a:ext cx="5486400" cy="1170432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377440"/>
            <a:ext cx="73152" cy="1170432"/>
          </a:xfrm>
          <a:prstGeom prst="rect">
            <a:avLst/>
          </a:prstGeom>
          <a:solidFill>
            <a:srgbClr val="E07B2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243230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Distress Sale Value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2336" y="2743200"/>
            <a:ext cx="512064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27432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V_distress = V_market × (1 − δ)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" y="3063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liquidity discount: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Prime residential → 15–20%  |  Commercial → 20–30%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Niche / illiquid → 30–40%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3675888"/>
            <a:ext cx="5486400" cy="1170432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675888"/>
            <a:ext cx="73152" cy="11704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37307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Resale Potential Index (RPI)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" y="4041648"/>
            <a:ext cx="512064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" y="40416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RPI = w₁·Loc + w₂·Config + w₃·Demand − w₄·Age − w₅·Legal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" y="43616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tuned to market intuition (calibrated, not ML-dependent)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 Highly Liquid · 50–80 Moderate · &lt;50 Illiquid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53328" y="10789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RPI Factor Weights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53328" y="1408176"/>
            <a:ext cx="2834640" cy="457200"/>
          </a:xfrm>
          <a:prstGeom prst="rect">
            <a:avLst/>
          </a:prstGeom>
          <a:solidFill>
            <a:srgbClr val="102244"/>
          </a:solidFill>
          <a:ln/>
        </p:spPr>
      </p:sp>
      <p:sp>
        <p:nvSpPr>
          <p:cNvPr id="24" name="Text 22"/>
          <p:cNvSpPr/>
          <p:nvPr/>
        </p:nvSpPr>
        <p:spPr>
          <a:xfrm>
            <a:off x="6108192" y="14630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25512" y="14630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65592" y="14630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53328" y="1901952"/>
            <a:ext cx="2834640" cy="457200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28" name="Text 26"/>
          <p:cNvSpPr/>
          <p:nvPr/>
        </p:nvSpPr>
        <p:spPr>
          <a:xfrm>
            <a:off x="6108192" y="195681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location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25512" y="195681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65592" y="195681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53328" y="2395728"/>
            <a:ext cx="2834640" cy="457200"/>
          </a:xfrm>
          <a:prstGeom prst="rect">
            <a:avLst/>
          </a:prstGeom>
          <a:solidFill>
            <a:srgbClr val="EBF1F8"/>
          </a:solidFill>
          <a:ln/>
        </p:spPr>
      </p:sp>
      <p:sp>
        <p:nvSpPr>
          <p:cNvPr id="32" name="Text 30"/>
          <p:cNvSpPr/>
          <p:nvPr/>
        </p:nvSpPr>
        <p:spPr>
          <a:xfrm>
            <a:off x="6108192" y="245059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config (2BHK)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25512" y="245059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65592" y="245059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53328" y="2889504"/>
            <a:ext cx="2834640" cy="457200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36" name="Text 34"/>
          <p:cNvSpPr/>
          <p:nvPr/>
        </p:nvSpPr>
        <p:spPr>
          <a:xfrm>
            <a:off x="6108192" y="29443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 micro-market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25512" y="29443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165592" y="294436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53328" y="3383280"/>
            <a:ext cx="2834640" cy="457200"/>
          </a:xfrm>
          <a:prstGeom prst="rect">
            <a:avLst/>
          </a:prstGeom>
          <a:solidFill>
            <a:srgbClr val="EBF1F8"/>
          </a:solidFill>
          <a:ln/>
        </p:spPr>
      </p:sp>
      <p:sp>
        <p:nvSpPr>
          <p:cNvPr id="40" name="Text 38"/>
          <p:cNvSpPr/>
          <p:nvPr/>
        </p:nvSpPr>
        <p:spPr>
          <a:xfrm>
            <a:off x="6108192" y="343814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construction (&gt;15yr)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525512" y="343814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165592" y="343814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53328" y="3877056"/>
            <a:ext cx="2834640" cy="457200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44" name="Text 42"/>
          <p:cNvSpPr/>
          <p:nvPr/>
        </p:nvSpPr>
        <p:spPr>
          <a:xfrm>
            <a:off x="6108192" y="39319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complexity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25512" y="39319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165592" y="393192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53328" y="4370832"/>
            <a:ext cx="2834640" cy="457200"/>
          </a:xfrm>
          <a:prstGeom prst="rect">
            <a:avLst/>
          </a:prstGeom>
          <a:solidFill>
            <a:srgbClr val="EBF1F8"/>
          </a:solidFill>
          <a:ln/>
        </p:spPr>
      </p:sp>
      <p:sp>
        <p:nvSpPr>
          <p:cNvPr id="48" name="Text 46"/>
          <p:cNvSpPr/>
          <p:nvPr/>
        </p:nvSpPr>
        <p:spPr>
          <a:xfrm>
            <a:off x="6108192" y="442569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/ custom asset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525512" y="442569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165592" y="442569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6032" y="4681728"/>
            <a:ext cx="8631936" cy="420624"/>
          </a:xfrm>
          <a:prstGeom prst="rect">
            <a:avLst/>
          </a:prstGeom>
          <a:solidFill>
            <a:srgbClr val="102244"/>
          </a:solidFill>
          <a:ln/>
        </p:spPr>
      </p:sp>
      <p:sp>
        <p:nvSpPr>
          <p:cNvPr id="52" name="Text 50"/>
          <p:cNvSpPr/>
          <p:nvPr/>
        </p:nvSpPr>
        <p:spPr>
          <a:xfrm>
            <a:off x="256032" y="4681728"/>
            <a:ext cx="8631936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DAC"/>
                </a:solidFill>
              </a:rPr>
              <a:t>Time to Liquidate: T = f(RPI, property_type, market_activity) → expressed as [min_days, max_days] range, never a point estimate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— API WALKTHROUGH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657600"/>
          </a:xfrm>
          <a:prstGeom prst="rect">
            <a:avLst/>
          </a:prstGeom>
          <a:solidFill>
            <a:srgbClr val="0D1E38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 /api/v1/valuate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97764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"address": "Koregaon Park, Pune",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"lat": 18.5362, "lng": 73.8938,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"property_type": "residential",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"sub_type": "apartment",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"carpet_area_sqft": 850,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"vintage_years": 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"floor": 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"lift_available":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"legal_status": "freehold",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"occupancy": "rented",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"monthly_rent": 28000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3657600"/>
          </a:xfrm>
          <a:prstGeom prst="rect">
            <a:avLst/>
          </a:prstGeom>
          <a:solidFill>
            <a:srgbClr val="0D1E38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4160520" cy="347472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058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200 OK — Response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389888"/>
            <a:ext cx="397764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"market_value_range":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[8500000, 10200000],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"distress_value_range":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[6800000, 8160000],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"resale_potential_index": 76,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"time_to_sell_days": [30, 60],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"confidence_score": 0.74,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"key_drivers":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"prime_koregaon_location",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"rental_yield_1.98pct",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"standard_apartment_config"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"risk_flags":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"mid_age_building_8yr"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60F1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BDAC"/>
                </a:solidFill>
              </a:rPr>
              <a:t>Live prototype: github.com/[team]/collatiq  ·  Deployed: collatiq.onrender.com/docs  ·  Response time &lt; 600ms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22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&amp; INPUT VALIDATION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675120" y="27432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D64045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 TRUST LAYER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8631936" cy="804672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91440" cy="804672"/>
          </a:xfrm>
          <a:prstGeom prst="rect">
            <a:avLst/>
          </a:prstGeom>
          <a:solidFill>
            <a:srgbClr val="D640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187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1155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Overstated Property Size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87552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Trigger: Carpet area &gt; 2× median for locality + sub-type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120640" y="1188720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D64045">
              <a:alpha val="1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120640" y="1188720"/>
            <a:ext cx="64008" cy="566928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13" name="Text 10"/>
          <p:cNvSpPr/>
          <p:nvPr/>
        </p:nvSpPr>
        <p:spPr>
          <a:xfrm>
            <a:off x="5230368" y="1188720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Flag as HIGH RISK · Clamp to locality P90 · Reduce confidence by 0.2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6032" y="2011680"/>
            <a:ext cx="8631936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6032" y="2011680"/>
            <a:ext cx="91440" cy="804672"/>
          </a:xfrm>
          <a:prstGeom prst="rect">
            <a:avLst/>
          </a:prstGeom>
          <a:solidFill>
            <a:srgbClr val="E07B2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87552" y="204825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Location–Property Mismatch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987552" y="2377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Trigger: Industrial sub-type in a residential zone lat-long, or vice versa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120640" y="2121408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E07B20">
              <a:alpha val="15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5120640" y="2121408"/>
            <a:ext cx="64008" cy="566928"/>
          </a:xfrm>
          <a:prstGeom prst="rect">
            <a:avLst/>
          </a:prstGeom>
          <a:solidFill>
            <a:srgbClr val="E07B20"/>
          </a:solidFill>
          <a:ln/>
        </p:spPr>
      </p:sp>
      <p:sp>
        <p:nvSpPr>
          <p:cNvPr id="21" name="Text 17"/>
          <p:cNvSpPr/>
          <p:nvPr/>
        </p:nvSpPr>
        <p:spPr>
          <a:xfrm>
            <a:off x="5230368" y="2121408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Flag TYPE_MISMATCH · Return validation error with correction hint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56032" y="2944368"/>
            <a:ext cx="8631936" cy="804672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56032" y="2944368"/>
            <a:ext cx="91440" cy="804672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27248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87552" y="29809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Encumbrance Proxy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987552" y="33101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Trigger: Leasehold tenure &lt; 15yr remaining OR litigious locality flag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120640" y="3054096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F0A500">
              <a:alpha val="15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5120640" y="3054096"/>
            <a:ext cx="64008" cy="5669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4"/>
          <p:cNvSpPr/>
          <p:nvPr/>
        </p:nvSpPr>
        <p:spPr>
          <a:xfrm>
            <a:off x="5230368" y="3054096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Add ENCUMBRANCE_RISK flag · Apply 35% distress discount · Lower RPI by 20 pts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256032" y="3877056"/>
            <a:ext cx="8631936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256032" y="3877056"/>
            <a:ext cx="91440" cy="804672"/>
          </a:xfrm>
          <a:prstGeom prst="rect">
            <a:avLst/>
          </a:prstGeom>
          <a:solidFill>
            <a:srgbClr val="3D5A80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59936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87552" y="391363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Implausibility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987552" y="42428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Trigger: 4BHK carpet area &lt; 600 sqft, or Studio &gt; 2000 sqft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5120640" y="3986784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3D5A80">
              <a:alpha val="15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5120640" y="3986784"/>
            <a:ext cx="64008" cy="5669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37" name="Text 31"/>
          <p:cNvSpPr/>
          <p:nvPr/>
        </p:nvSpPr>
        <p:spPr>
          <a:xfrm>
            <a:off x="5230368" y="3986784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Reject with CONFIG_IMPLAUSIBLE error · Suggest corrected sub-type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7377"/>
                </a:solidFill>
              </a:rPr>
              <a:t>Every API call runs all 4 checks before entering the valuation pipeline — fraud-first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SCALABILITY &amp;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2011680" cy="1325880"/>
          </a:xfrm>
          <a:prstGeom prst="rect">
            <a:avLst/>
          </a:prstGeom>
          <a:solidFill>
            <a:srgbClr val="102244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1155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Reduction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manual valuation time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32304" y="1051560"/>
            <a:ext cx="2011680" cy="13258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32304" y="11155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₹18L Cr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32304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Addressable LAP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market in India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08576" y="1051560"/>
            <a:ext cx="2011680" cy="1325880"/>
          </a:xfrm>
          <a:prstGeom prst="rect">
            <a:avLst/>
          </a:prstGeom>
          <a:solidFill>
            <a:srgbClr val="1B8A5A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11155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&lt;600ms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08576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API response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time (prototype)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84848" y="1051560"/>
            <a:ext cx="2011680" cy="1325880"/>
          </a:xfrm>
          <a:prstGeom prst="rect">
            <a:avLst/>
          </a:prstGeom>
          <a:solidFill>
            <a:srgbClr val="E07B20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84848" y="11155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84848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Fraud flag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coverage on test 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5420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Roadmap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6032" y="2944368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44368"/>
            <a:ext cx="2743200" cy="502920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" y="2944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Now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70432" y="2944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Engine Live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352044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REST API · 6 outputs · Fraud checks · Swagger docs · GitHub repo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99232" y="3172968"/>
            <a:ext cx="201168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2944368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944368"/>
            <a:ext cx="27432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2944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 Months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0" y="2944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Enrichment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52044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Circle rate DB for 50 cities · Listing scrapers · Satellite footprint API · Image-based condition scorer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0" y="3172968"/>
            <a:ext cx="201168" cy="91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Shape 27"/>
          <p:cNvSpPr/>
          <p:nvPr/>
        </p:nvSpPr>
        <p:spPr>
          <a:xfrm>
            <a:off x="6144768" y="2944368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2944368"/>
            <a:ext cx="2743200" cy="502920"/>
          </a:xfrm>
          <a:prstGeom prst="rect">
            <a:avLst/>
          </a:prstGeom>
          <a:solidFill>
            <a:srgbClr val="102244"/>
          </a:solidFill>
          <a:ln/>
        </p:spPr>
      </p:sp>
      <p:sp>
        <p:nvSpPr>
          <p:cNvPr id="31" name="Text 29"/>
          <p:cNvSpPr/>
          <p:nvPr/>
        </p:nvSpPr>
        <p:spPr>
          <a:xfrm>
            <a:off x="6144768" y="2944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6–12 Mo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59168" y="2944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NBFC Integration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352044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</a:rPr>
              <a:t>SDK for loan origination systems · Bulk batch API · Audit trail &amp; SOC2 · Explainability report PDF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9194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7377"/>
                </a:solidFill>
              </a:rPr>
              <a:t>CollatIQ is live today and can integrate into a lender's workflow within one sprint.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D1E38"/>
          </a:solidFill>
          <a:ln w="12700">
            <a:solidFill>
              <a:srgbClr val="0D1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COLLATIQ WINS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different.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today.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329184" cy="329184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2128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D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Range-Based Outputs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3008" y="2212848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precision — every value carries min/max bounds &amp; confidence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962656"/>
            <a:ext cx="329184" cy="32918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29626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Fraud-First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3008" y="2962656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before valuation — protects lender from day 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712464"/>
            <a:ext cx="329184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71246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Proprietary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93008" y="371246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public inputs &amp; structured assumptions — deploy anywhere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343400"/>
            <a:ext cx="8595360" cy="566928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43434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🔗  github.com/[team]/collatiq   |   🌐  collatiq.onrender.com/docs   |   📄  /api/v1/valuate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0F1E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80AA"/>
                </a:solidFill>
              </a:rPr>
              <a:t>"A Bloomberg Terminal for Real Estate Collateral — Price · Risk · Liquidity in one view."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CollatIQ – Prototype Submission</dc:title>
  <dc:subject>PptxGenJS Presentation</dc:subject>
  <dc:creator>PptxGenJS</dc:creator>
  <cp:lastModifiedBy>PptxGenJS</cp:lastModifiedBy>
  <cp:revision>1</cp:revision>
  <dcterms:created xsi:type="dcterms:W3CDTF">2026-05-02T17:48:21Z</dcterms:created>
  <dcterms:modified xsi:type="dcterms:W3CDTF">2026-05-02T17:48:21Z</dcterms:modified>
</cp:coreProperties>
</file>