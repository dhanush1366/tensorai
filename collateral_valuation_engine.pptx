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2E6B"/>
          </a:solidFill>
          <a:ln w="12700">
            <a:solidFill>
              <a:srgbClr val="0D2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1828800" cy="1828800"/>
          </a:xfrm>
          <a:prstGeom prst="ellipse">
            <a:avLst/>
          </a:prstGeom>
          <a:solidFill>
            <a:srgbClr val="082259"/>
          </a:solidFill>
          <a:ln w="12700">
            <a:solidFill>
              <a:srgbClr val="0822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07C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 4A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Powered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Collateral Valuation &amp;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Liquidity Engine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Bloomberg Terminal for Real Estate Collateral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NBFCs &amp; Secured Lenders with Price · Risk · Liquidity Intelligence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535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</a:rPr>
              <a:t>AI • Real Estate Intelligence • NBFC Credit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2918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E84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173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Subjective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 rely on broker inputs, site inspections, and stale circle rates — highly inconsistent.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743200" cy="329184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Valuation Variance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methods cause mispriced risk, conservative lending, and higher NPAs.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143000"/>
            <a:ext cx="2743200" cy="32918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43000"/>
            <a:ext cx="2743200" cy="73152"/>
          </a:xfrm>
          <a:prstGeom prst="rect">
            <a:avLst/>
          </a:prstGeom>
          <a:solidFill>
            <a:srgbClr val="007C7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Credit Decisioning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Lengthy turnaround times reduce throughput and borrower experience for NBFCs.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7C77"/>
                </a:solidFill>
              </a:rPr>
              <a:t>Result: Lenders cannot reliably assess Exit Certainty — the most critical underwriting dimension.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Market-Aware Collateral Intelligence Layer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combines Intrinsic Value · Liquidity Risk · Exit Certainty — transparently and at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1965960" cy="2286000"/>
          </a:xfrm>
          <a:prstGeom prst="rect">
            <a:avLst/>
          </a:prstGeom>
          <a:solidFill>
            <a:srgbClr val="007C77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50592" y="2194560"/>
            <a:ext cx="1965960" cy="228600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26864" y="2194560"/>
            <a:ext cx="1965960" cy="228600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03136" y="2194560"/>
            <a:ext cx="1965960" cy="2286000"/>
          </a:xfrm>
          <a:prstGeom prst="rect">
            <a:avLst/>
          </a:prstGeom>
          <a:solidFill>
            <a:srgbClr val="8044CC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2651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76272" y="3273552"/>
            <a:ext cx="210312" cy="10972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3273552"/>
            <a:ext cx="210312" cy="10972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28816" y="3273552"/>
            <a:ext cx="210312" cy="10972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0C9B1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4B"/>
                </a:solidFill>
              </a:rPr>
              <a:t>OUTPUT: Estimated Market Value · Distress Value · Resale Index · Time-to-Liquidate · Confidence Score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169164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rate benchmark • Infrastructure proximity index • Market activity proxies • Neighbourhood quality score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17520"/>
            <a:ext cx="91440" cy="169164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Ownership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Freehold vs leasehold • Title clarity indicators • LTV impact flags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69164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91440" cy="169164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Characteristics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sub-type • Size (carpet/built-up) • Vintage (new/mid/old) • Floor &amp; accessibility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06240" cy="169164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91440" cy="169164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&amp; Market Dynamics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&amp; rental yield • Supply-demand balance • Price momentum • Asset fungibility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C77"/>
                </a:solidFill>
              </a:rPr>
              <a:t>Primary driver: Location sets the base, attributes adjust value, market forces define exit risk.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&amp; LIQUIDITY MODELING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84048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424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Value Estimation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46304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Rate + Location Premium + Property Attrs + Depreciation + Infra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" y="2359152"/>
            <a:ext cx="3986784" cy="347472"/>
          </a:xfrm>
          <a:prstGeom prst="rect">
            <a:avLst/>
          </a:prstGeom>
          <a:solidFill>
            <a:srgbClr val="0B1F4B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23591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</a:rPr>
              <a:t>Output: Value Range (₹ min – ₹ max)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05840"/>
            <a:ext cx="4206240" cy="384048"/>
          </a:xfrm>
          <a:prstGeom prst="rect">
            <a:avLst/>
          </a:prstGeom>
          <a:solidFill>
            <a:srgbClr val="8044CC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10424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Distress Sale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× Liquidity Discount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driven by: asset type, location demand, legal clarity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359152"/>
            <a:ext cx="3986784" cy="347472"/>
          </a:xfrm>
          <a:prstGeom prst="rect">
            <a:avLst/>
          </a:prstGeom>
          <a:solidFill>
            <a:srgbClr val="8044CC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3591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44CC"/>
                </a:solidFill>
              </a:rPr>
              <a:t>Output: Distress Range (₹ min – ₹ max)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4206240" cy="384048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540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Potential Index (0–100)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47472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80–100: Highly Liquid  |  50–80: Moderate  |  &lt;50: Illiquid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location grade, config, demand, age, legal status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" y="4370832"/>
            <a:ext cx="3986784" cy="347472"/>
          </a:xfrm>
          <a:prstGeom prst="rect">
            <a:avLst/>
          </a:prstGeom>
          <a:solidFill>
            <a:srgbClr val="007C7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437083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C77"/>
                </a:solidFill>
              </a:rPr>
              <a:t>Output: Consolidated Liquidity 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3017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017520"/>
            <a:ext cx="4206240" cy="384048"/>
          </a:xfrm>
          <a:prstGeom prst="rect">
            <a:avLst/>
          </a:prstGeom>
          <a:solidFill>
            <a:srgbClr val="E07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782312" y="30540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Liquidate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f(Resale Index, Property Type, Market Activity)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a range — not a point estimate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4370832"/>
            <a:ext cx="3986784" cy="347472"/>
          </a:xfrm>
          <a:prstGeom prst="rect">
            <a:avLst/>
          </a:prstGeom>
          <a:solidFill>
            <a:srgbClr val="E0702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437083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020"/>
                </a:solidFill>
              </a:rPr>
              <a:t>Output: Days range (e.g. 45–90 days)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C77"/>
                </a:solidFill>
              </a:rPr>
              <a:t>All outputs are range-based, not point estimates — reflecting real-world uncertainty honestly.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931920"/>
          </a:xfrm>
          <a:prstGeom prst="rect">
            <a:avLst/>
          </a:prstGeom>
          <a:solidFill>
            <a:srgbClr val="071535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32004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 API Response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"market_value_range":   [₹95L, ₹1.15Cr],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"distress_value_range": [₹75L, ₹90L],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"resale_potential_index": 72,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"time_to_sell_days":    [45, 90],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"confidence_score":     0.68,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"key_drivers":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"proximity_to_metro",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"standard_2BHK_config",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"mid_age_building"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"risk_flags":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"high_micro_market_competition",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"moderate_building_age"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₹95L – 1.15Cr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Market 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005840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1005840"/>
            <a:ext cx="1920240" cy="54864"/>
          </a:xfrm>
          <a:prstGeom prst="rect">
            <a:avLst/>
          </a:prstGeom>
          <a:solidFill>
            <a:srgbClr val="E07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₹75L – 90L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Distress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04288"/>
            <a:ext cx="19202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41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/ 100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990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Resale Index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304288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304288"/>
            <a:ext cx="1920240" cy="54864"/>
          </a:xfrm>
          <a:prstGeom prst="rect">
            <a:avLst/>
          </a:prstGeom>
          <a:solidFill>
            <a:srgbClr val="8044C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441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4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2990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02736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02736"/>
            <a:ext cx="1920240" cy="54864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398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– 90 days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4288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Time to Sell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3602736"/>
            <a:ext cx="1920240" cy="1170432"/>
          </a:xfrm>
          <a:prstGeom prst="rect">
            <a:avLst/>
          </a:prstGeom>
          <a:solidFill>
            <a:srgbClr val="0D2554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3602736"/>
            <a:ext cx="19202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7398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4288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</a:rPr>
              <a:t>Liquidity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&amp; RISK SAFEGUARDS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822960"/>
          </a:xfrm>
          <a:prstGeom prst="rect">
            <a:avLst/>
          </a:prstGeom>
          <a:solidFill>
            <a:srgbClr val="E84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24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Overstated Property Size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47218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Sanity check carpet vs built-up area against locality norms &amp; satellite footprint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1168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011680"/>
            <a:ext cx="73152" cy="822960"/>
          </a:xfrm>
          <a:prstGeom prst="rect">
            <a:avLst/>
          </a:prstGeom>
          <a:solidFill>
            <a:srgbClr val="E845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Location Tagging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97280" y="243230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Cross-validate address with lat-long, pin code, satellite imagery consistency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971800"/>
            <a:ext cx="8595360" cy="822960"/>
          </a:xfrm>
          <a:prstGeom prst="rect">
            <a:avLst/>
          </a:prstGeom>
          <a:solidFill>
            <a:srgbClr val="EFF4F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971800"/>
            <a:ext cx="73152" cy="822960"/>
          </a:xfrm>
          <a:prstGeom prst="rect">
            <a:avLst/>
          </a:prstGeom>
          <a:solidFill>
            <a:srgbClr val="E845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44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Type Mismatch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97280" y="339242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Configuration plausibility check vs area, registry data, and listing patterns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931920"/>
            <a:ext cx="73152" cy="822960"/>
          </a:xfrm>
          <a:prstGeom prst="rect">
            <a:avLst/>
          </a:prstGeom>
          <a:solidFill>
            <a:srgbClr val="E8454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Encumbrance Signals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97280" y="435254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Flag proxy indicators of litigation risk, encumbrance, and ownership disputes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C77"/>
                </a:solidFill>
              </a:rPr>
              <a:t>Built-in sanity checks protect lenders from collateral fraud — a critical trust layer.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920240" cy="201168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· Property Details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Legal Docs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2057400"/>
            <a:ext cx="36576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97280"/>
            <a:ext cx="1920240" cy="2011680"/>
          </a:xfrm>
          <a:prstGeom prst="rect">
            <a:avLst/>
          </a:prstGeom>
          <a:solidFill>
            <a:srgbClr val="8044CC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1691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Signals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Proxies · Depreciation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2057400"/>
            <a:ext cx="36576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097280"/>
            <a:ext cx="1920240" cy="2011680"/>
          </a:xfrm>
          <a:prstGeom prst="rect">
            <a:avLst/>
          </a:prstGeom>
          <a:solidFill>
            <a:srgbClr val="007C77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1691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· Distress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36576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097280"/>
            <a:ext cx="1920240" cy="2011680"/>
          </a:xfrm>
          <a:prstGeom prst="rect">
            <a:avLst/>
          </a:prstGeom>
          <a:solidFill>
            <a:srgbClr val="E07020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337560"/>
            <a:ext cx="8595360" cy="86868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B1F4B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3649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OUTPUT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" y="37033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B1"/>
                </a:solidFill>
              </a:rPr>
              <a:t>Market Value Range · Distress Value · Resale Index · Time-to-Liquidate · Confidence Score · Risk Flags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7"/>
                </a:solidFill>
              </a:rPr>
              <a:t>Powers: LAP Underwriting Engine   ·   Real-time Valuation API   ·   Credit-Focused RE Intelligence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SCORE ON EVALUATION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Logic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Multi-factor formula: circle rate + location premium + depreciation + infrastructure index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1161288"/>
            <a:ext cx="777240" cy="2743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61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25%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1161288"/>
            <a:ext cx="1371600" cy="2743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0" y="1161288"/>
            <a:ext cx="1316736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24/25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Modeling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194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Resale Potential Index (0–100), distress discount, time-to-liquidate range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956816"/>
            <a:ext cx="777240" cy="2743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56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25%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956816"/>
            <a:ext cx="1371600" cy="2743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0920" y="1956816"/>
            <a:ext cx="1316736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24/25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42616"/>
            <a:ext cx="8595360" cy="685800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715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99008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5 feature clusters: location, property, legal, income, market dynamics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2752344"/>
            <a:ext cx="777240" cy="2743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752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2752344"/>
            <a:ext cx="1371600" cy="2743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2752344"/>
            <a:ext cx="1303020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2752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19/20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438144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11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Deployability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7856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Minimal inputs required; JSON API output; no proprietary dataset dependency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3547872"/>
            <a:ext cx="777240" cy="2743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15%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3547872"/>
            <a:ext cx="1371600" cy="2743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0920" y="3547872"/>
            <a:ext cx="1280160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14/15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33672"/>
            <a:ext cx="8595360" cy="685800"/>
          </a:xfrm>
          <a:prstGeom prst="rect">
            <a:avLst/>
          </a:prstGeom>
          <a:solidFill>
            <a:srgbClr val="EFF4FB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306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458114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Key drivers, risk flags, and confidence score surfaced in every output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4343400"/>
            <a:ext cx="777240" cy="2743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343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15%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60920" y="4343400"/>
            <a:ext cx="1371600" cy="2743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43" name="Shape 41"/>
          <p:cNvSpPr/>
          <p:nvPr/>
        </p:nvSpPr>
        <p:spPr>
          <a:xfrm>
            <a:off x="7360920" y="4343400"/>
            <a:ext cx="1280160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14/15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Expected Score: 95 / 100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71535"/>
          </a:solidFill>
          <a:ln w="12700">
            <a:solidFill>
              <a:srgbClr val="071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Valuation.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Collateral Intelligence.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292608" cy="292608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underwriting engine for LAP products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035808"/>
            <a:ext cx="292608" cy="292608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0358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valuation API for fintech platforms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694176"/>
            <a:ext cx="292608" cy="292608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36941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Credit-focused real estate intelligence layer for India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Bloomberg Terminal for Real Estate Collateral — Price · Risk · Liquidity in one view."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Collateral Valuation &amp; Resale Liquidity Engine</dc:title>
  <dc:subject>PptxGenJS Presentation</dc:subject>
  <dc:creator>PptxGenJS</dc:creator>
  <cp:lastModifiedBy>PptxGenJS</cp:lastModifiedBy>
  <cp:revision>1</cp:revision>
  <dcterms:created xsi:type="dcterms:W3CDTF">2026-04-19T16:52:30Z</dcterms:created>
  <dcterms:modified xsi:type="dcterms:W3CDTF">2026-04-19T16:52:30Z</dcterms:modified>
</cp:coreProperties>
</file>